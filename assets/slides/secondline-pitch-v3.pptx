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11835099a904626" /><Relationship Type="http://schemas.openxmlformats.org/officeDocument/2006/relationships/extended-properties" Target="/docProps/app.xml" Id="Rdda692aed6974caf" /><Relationship Type="http://schemas.openxmlformats.org/officeDocument/2006/relationships/officeDocument" Target="/ppt/presentation.xml" Id="R0b73ab876f16494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f96b69ea1314c9f"/>
  </p:sldMasterIdLst>
  <p:notesMasterIdLst>
    <p:notesMasterId xmlns:r="http://schemas.openxmlformats.org/officeDocument/2006/relationships" r:id="R072f0bb7bc744997"/>
  </p:notesMasterIdLst>
  <p:sldIdLst>
    <p:sldId xmlns:r="http://schemas.openxmlformats.org/officeDocument/2006/relationships" id="256" r:id="R13d858e22856447c"/>
    <p:sldId xmlns:r="http://schemas.openxmlformats.org/officeDocument/2006/relationships" id="257" r:id="R3a34014cb0644d3c"/>
    <p:sldId xmlns:r="http://schemas.openxmlformats.org/officeDocument/2006/relationships" id="258" r:id="Ra5285eb72f484a15"/>
    <p:sldId xmlns:r="http://schemas.openxmlformats.org/officeDocument/2006/relationships" id="259" r:id="R570fc20e95024e1a"/>
    <p:sldId xmlns:r="http://schemas.openxmlformats.org/officeDocument/2006/relationships" id="260" r:id="Rac9d6fe3621640da"/>
    <p:sldId xmlns:r="http://schemas.openxmlformats.org/officeDocument/2006/relationships" id="261" r:id="R3b36e95a3dbc4aa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bc9351852214605" /><Relationship Type="http://schemas.openxmlformats.org/officeDocument/2006/relationships/slideMaster" Target="/ppt/slideMasters/slideMaster1.xml" Id="R2f96b69ea1314c9f" /><Relationship Type="http://schemas.openxmlformats.org/officeDocument/2006/relationships/notesMaster" Target="/ppt/notesMasters/notesMaster1.xml" Id="R072f0bb7bc744997" /><Relationship Type="http://schemas.openxmlformats.org/officeDocument/2006/relationships/presProps" Target="/ppt/presProps.xml" Id="R706258530e564583" /><Relationship Type="http://schemas.openxmlformats.org/officeDocument/2006/relationships/tableStyles" Target="/ppt/tableStyles.xml" Id="R80a612b89df846ec" /><Relationship Type="http://schemas.openxmlformats.org/officeDocument/2006/relationships/slide" Target="/ppt/slides/slide1.xml" Id="R13d858e22856447c" /><Relationship Type="http://schemas.openxmlformats.org/officeDocument/2006/relationships/slide" Target="/ppt/slides/slide2.xml" Id="R3a34014cb0644d3c" /><Relationship Type="http://schemas.openxmlformats.org/officeDocument/2006/relationships/slide" Target="/ppt/slides/slide3.xml" Id="Ra5285eb72f484a15" /><Relationship Type="http://schemas.openxmlformats.org/officeDocument/2006/relationships/slide" Target="/ppt/slides/slide4.xml" Id="R570fc20e95024e1a" /><Relationship Type="http://schemas.openxmlformats.org/officeDocument/2006/relationships/slide" Target="/ppt/slides/slide5.xml" Id="Rac9d6fe3621640da" /><Relationship Type="http://schemas.openxmlformats.org/officeDocument/2006/relationships/slide" Target="/ppt/slides/slide6.xml" Id="R3b36e95a3dbc4aa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3a4f5fd185d452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ffe277ae6214687" /><Relationship Type="http://schemas.openxmlformats.org/officeDocument/2006/relationships/notesMaster" Target="/ppt/notesMasters/notesMaster1.xml" Id="Ra1184c0d60f44e9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c679b6517f24eef" /><Relationship Type="http://schemas.openxmlformats.org/officeDocument/2006/relationships/notesMaster" Target="/ppt/notesMasters/notesMaster1.xml" Id="R9a6e207345e64ca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c567363012c4fbe" /><Relationship Type="http://schemas.openxmlformats.org/officeDocument/2006/relationships/notesMaster" Target="/ppt/notesMasters/notesMaster1.xml" Id="R22a8e1d9d8d1449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a5aae3ad2ae43d7" /><Relationship Type="http://schemas.openxmlformats.org/officeDocument/2006/relationships/notesMaster" Target="/ppt/notesMasters/notesMaster1.xml" Id="Rd99fccdf0b8f4f2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b4775b7fb53458a" /><Relationship Type="http://schemas.openxmlformats.org/officeDocument/2006/relationships/notesMaster" Target="/ppt/notesMasters/notesMaster1.xml" Id="R1035daf6f8034c0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eac1e8eac584f48" /><Relationship Type="http://schemas.openxmlformats.org/officeDocument/2006/relationships/notesMaster" Target="/ppt/notesMasters/notesMaster1.xml" Id="Rc4000a822cdb466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generated editorial still life for this project; it depicts no real person, call, account, or transaction. Product title and copy are editable slide text.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pressure line is invented for the exercise. FTC consumer guidance supports hanging up, contacting the institution through an official app/site or trusted number, and keeping verification codes private: https://consumer.ftc.gov/consumer-alerts/2026/01/how-handle-unexpected-calls-claim-your-money-risk . No prevalence statistic, efficacy result, or measured financial outcome is claimed.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Screenshot captured from the local SecondLine build at 1280 by 720. The image shows a real browser UI but no AssemblyAI session. The live path is implemented in code and needs provider credentials for runtime proof.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Architecture reference: https://www.assemblyai.com/docs/voice-agents/voice-agent-api/browser-integration . Real provider smoke evidence: qa/live-provider-smoke.json. A synthetic PCM fixture was used; this does not prove human microphone quality, audible speaker playback, or spoken interruption.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Screenshot from actual local offline walkthrough. Direct event overlap exists with Pretext, a voice social-engineering rehearsal entrant: https://lablab.ai/ai-hackathons/assemblyai-voice-agent-hackathon/waterloo-voice-lab/pretext-can-you-hold-the-line . SecondLine focuses on consumer self-practice before payment or code disclosure and independent-contact teach-back. FTC guidance for those actions: https://consumer.ftc.gov/consumer-alerts/2026/01/how-handle-unexpected-calls-claim-your-money-risk . No broad originality, comparative efficacy, or learning result is claimed.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Readiness record on 2026-09-30: a real AssemblyAI token, session.ready, synthetic user transcription, agent text/audio, and clean session.end were observed. Browser rendering was checked with a synthetic microphone fixture. Human microphone quality, audible speaker playback, spoken interruption, and a human-made MP4 remain unverified. Consult readiness.json for current hosted and repository status.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f5491e11df64ae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adceffe1f0f4a41" /><Relationship Type="http://schemas.openxmlformats.org/officeDocument/2006/relationships/slideLayout" Target="/ppt/slideLayouts/slideLayout1.xml" Id="Rf205d8955a704aa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205d8955a704aa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e74d3d49c0410b" /><Relationship Type="http://schemas.openxmlformats.org/officeDocument/2006/relationships/image" Target="/ppt/media/image.png" Id="R75b58d8c8b954215" /><Relationship Type="http://schemas.openxmlformats.org/officeDocument/2006/relationships/notesSlide" Target="/ppt/notesSlides/notesSlide1.xml" Id="R24e7704a04f043f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63d24e430d4810" /><Relationship Type="http://schemas.openxmlformats.org/officeDocument/2006/relationships/notesSlide" Target="/ppt/notesSlides/notesSlide2.xml" Id="R782ffcee249a45a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2cbce8bc38404b" /><Relationship Type="http://schemas.openxmlformats.org/officeDocument/2006/relationships/image" Target="/ppt/media/image.jpeg" Id="R22111717ad0646af" /><Relationship Type="http://schemas.openxmlformats.org/officeDocument/2006/relationships/notesSlide" Target="/ppt/notesSlides/notesSlide3.xml" Id="R12f6a412ba71440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6027f2aca1410a" /><Relationship Type="http://schemas.openxmlformats.org/officeDocument/2006/relationships/notesSlide" Target="/ppt/notesSlides/notesSlide4.xml" Id="R97c5305dea024c7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251f67a9bf4133" /><Relationship Type="http://schemas.openxmlformats.org/officeDocument/2006/relationships/image" Target="/ppt/media/image2.jpeg" Id="R6bc54f47d8c14254" /><Relationship Type="http://schemas.openxmlformats.org/officeDocument/2006/relationships/notesSlide" Target="/ppt/notesSlides/notesSlide5.xml" Id="R44d9cd02c43d4d8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d4f6a4f68a4d02" /><Relationship Type="http://schemas.openxmlformats.org/officeDocument/2006/relationships/notesSlide" Target="/ppt/notesSlides/notesSlide6.xml" Id="R9eba977341c44ed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b58d8c8b954215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608A0A-AD5B-467A-8069-999A44493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5048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D16A5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D16A54"/>
                </a:solidFill>
                <a:latin typeface="Arial"/>
                <a:ea typeface="Arial"/>
                <a:cs typeface="Arial"/>
              </a:rPr>
              <a:t>SECONDLINE / 001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4A63DB-505A-45CC-A1F7-5B9073E2E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57425"/>
            <a:ext cx="56197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450" b="1">
                <a:solidFill>
                  <a:srgbClr val="102926"/>
                </a:solidFill>
                <a:latin typeface="Georgia"/>
                <a:ea typeface="Georgia"/>
                <a:cs typeface="Georgia"/>
              </a:defRPr>
            </a:pPr>
            <a:r>
              <a:rPr sz="6450" b="1">
                <a:solidFill>
                  <a:srgbClr val="102926"/>
                </a:solidFill>
                <a:latin typeface="Georgia"/>
                <a:ea typeface="Georgia"/>
                <a:cs typeface="Georgia"/>
              </a:rPr>
              <a:t>SecondLine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B379F2-6832-4F97-B57F-C4CA35D74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90925"/>
            <a:ext cx="609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02926"/>
                </a:solidFill>
                <a:latin typeface="Georgia"/>
                <a:ea typeface="Georgia"/>
                <a:cs typeface="Georgia"/>
              </a:defRPr>
            </a:pPr>
            <a:r>
              <a:rPr sz="3750" b="1">
                <a:solidFill>
                  <a:srgbClr val="102926"/>
                </a:solidFill>
                <a:latin typeface="Georgia"/>
                <a:ea typeface="Georgia"/>
                <a:cs typeface="Georgia"/>
              </a:rPr>
              <a:t>Rehearse the pause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BE825C-F16F-41D9-AA23-7ED2BC839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43625"/>
            <a:ext cx="5238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292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926"/>
                </a:solidFill>
                <a:latin typeface="Arial"/>
                <a:ea typeface="Arial"/>
                <a:cs typeface="Arial"/>
              </a:rPr>
              <a:t>FICTIONAL VOICE PRACTICE</a:t>
            </a:r>
          </a:p>
        </p:txBody>
      </p:sp>
    </p:spTree>
    <p:extLst>
      <p:ext uri="{BB962C8B-B14F-4D97-AF65-F5344CB8AC3E}">
        <p14:creationId xmlns:p14="http://schemas.microsoft.com/office/powerpoint/2010/main" val="176805210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029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3B384D-84E8-4658-961F-BF255A446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191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FBF8F0"/>
                </a:solidFill>
                <a:latin typeface="Georgia"/>
                <a:ea typeface="Georgia"/>
                <a:cs typeface="Georgia"/>
              </a:defRPr>
            </a:pPr>
            <a:r>
              <a:rPr sz="4350" b="1">
                <a:solidFill>
                  <a:srgbClr val="FBF8F0"/>
                </a:solidFill>
                <a:latin typeface="Georgia"/>
                <a:ea typeface="Georgia"/>
                <a:cs typeface="Georgia"/>
              </a:rPr>
              <a:t>The pressured moment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EAD751-F100-4ECD-A922-96BDCE7E2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66925"/>
            <a:ext cx="105727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850" b="1">
                <a:solidFill>
                  <a:srgbClr val="D5E58D"/>
                </a:solidFill>
                <a:latin typeface="Georgia"/>
                <a:ea typeface="Georgia"/>
                <a:cs typeface="Georgia"/>
              </a:defRPr>
            </a:pPr>
            <a:r>
              <a:rPr sz="5850" b="1">
                <a:solidFill>
                  <a:srgbClr val="D5E58D"/>
                </a:solidFill>
                <a:latin typeface="Georgia"/>
                <a:ea typeface="Georgia"/>
                <a:cs typeface="Georgia"/>
              </a:rPr>
              <a:t>“Send the code now.”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42236A-4E19-429C-A9FC-935D10318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29050"/>
            <a:ext cx="1047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FBF8F0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FBF8F0"/>
                </a:solidFill>
                <a:latin typeface="Arial"/>
                <a:ea typeface="Arial"/>
                <a:cs typeface="Arial"/>
              </a:rPr>
              <a:t>A rushed request asks for action before the listener can check it. SecondLine lets the listener practice the words they will say to pause.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C19BA3-31FD-4320-AE6B-1297F02EA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76925"/>
            <a:ext cx="1076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16A5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048DE0-1027-47E5-9584-6DDDC11DD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48375"/>
            <a:ext cx="1057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FBF8F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BF8F0"/>
                </a:solidFill>
                <a:latin typeface="Arial"/>
                <a:ea typeface="Arial"/>
                <a:cs typeface="Arial"/>
              </a:rPr>
              <a:t>Fictional examples only. No real calls or financial actions.</a:t>
            </a:r>
          </a:p>
        </p:txBody>
      </p:sp>
    </p:spTree>
    <p:extLst>
      <p:ext uri="{BB962C8B-B14F-4D97-AF65-F5344CB8AC3E}">
        <p14:creationId xmlns:p14="http://schemas.microsoft.com/office/powerpoint/2010/main" val="101548879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F20F3E-2D23-401D-A790-343787892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382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02926"/>
                </a:solidFill>
                <a:latin typeface="Georgia"/>
                <a:ea typeface="Georgia"/>
                <a:cs typeface="Georgia"/>
              </a:defRPr>
            </a:pPr>
            <a:r>
              <a:rPr sz="4200" b="1">
                <a:solidFill>
                  <a:srgbClr val="102926"/>
                </a:solidFill>
                <a:latin typeface="Georgia"/>
                <a:ea typeface="Georgia"/>
                <a:cs typeface="Georgia"/>
              </a:rPr>
              <a:t>One short exercise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F77547-D844-4273-83A5-47BF4DBD4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1076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92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664703-EA3E-4848-A9DB-ECB9A1C69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685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D16A5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D16A54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461C7C-D07D-4325-A6C5-A335B1512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1847850"/>
            <a:ext cx="3619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0292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02926"/>
                </a:solidFill>
                <a:latin typeface="Arial"/>
                <a:ea typeface="Arial"/>
                <a:cs typeface="Arial"/>
              </a:rPr>
              <a:t>Hear one invented pressure line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E1A4C1-4CBE-49C7-8EC3-43D286FA0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5125"/>
            <a:ext cx="685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D16A5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D16A5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DC5DAF-D2C2-43B2-A05F-FB36A5474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2828925"/>
            <a:ext cx="3619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0292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02926"/>
                </a:solidFill>
                <a:latin typeface="Arial"/>
                <a:ea typeface="Arial"/>
                <a:cs typeface="Arial"/>
              </a:rPr>
              <a:t>Say a boundary aloud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654645-D16A-4FF2-8BA4-4BDF6329B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95725"/>
            <a:ext cx="685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D16A5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D16A54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67408A-6572-42F9-A6F6-94FAE6B1F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3800475"/>
            <a:ext cx="3619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0292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02926"/>
                </a:solidFill>
                <a:latin typeface="Arial"/>
                <a:ea typeface="Arial"/>
                <a:cs typeface="Arial"/>
              </a:rPr>
              <a:t>Explain your independent check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111717ad0646af"/>
          <a:stretch xmlns:a="http://schemas.openxmlformats.org/drawingml/2006/main"/>
        </p:blipFill>
        <p:spPr>
          <a:xfrm xmlns:a="http://schemas.openxmlformats.org/drawingml/2006/main">
            <a:off x="5127625" y="1743075"/>
            <a:ext cx="6299200" cy="35433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58D523-1194-4912-A3E6-2EAA76146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5448300"/>
            <a:ext cx="6334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76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763"/>
                </a:solidFill>
                <a:latin typeface="Arial"/>
                <a:ea typeface="Arial"/>
                <a:cs typeface="Arial"/>
              </a:rPr>
              <a:t>Offline walkthrough shown. The real voice path is separately tested with synthetic speech.</a:t>
            </a:r>
          </a:p>
        </p:txBody>
      </p:sp>
    </p:spTree>
    <p:extLst>
      <p:ext uri="{BB962C8B-B14F-4D97-AF65-F5344CB8AC3E}">
        <p14:creationId xmlns:p14="http://schemas.microsoft.com/office/powerpoint/2010/main" val="145902848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8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659B4EC-27BE-447F-A0D6-A58496967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02926"/>
                </a:solidFill>
                <a:latin typeface="Georgia"/>
                <a:ea typeface="Georgia"/>
                <a:cs typeface="Georgia"/>
              </a:defRPr>
            </a:pPr>
            <a:r>
              <a:rPr sz="4200" b="1">
                <a:solidFill>
                  <a:srgbClr val="102926"/>
                </a:solidFill>
                <a:latin typeface="Georgia"/>
                <a:ea typeface="Georgia"/>
                <a:cs typeface="Georgia"/>
              </a:rPr>
              <a:t>The AssemblyAI voice path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F9A8DF-550D-475B-8BEA-C6773EA76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1076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92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7C5E80-B814-4C90-858F-347733EEA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904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D16A5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D16A54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594E70-3CB3-43DC-A6B0-E4517CAE3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195262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0292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02926"/>
                </a:solidFill>
                <a:latin typeface="Arial"/>
                <a:ea typeface="Arial"/>
                <a:cs typeface="Arial"/>
              </a:rPr>
              <a:t>Browser mic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51E8F7-52CF-4399-88EF-CFDD6113E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10000"/>
            <a:ext cx="1952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16A5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F33740-C025-41C1-B887-4FF3ADE86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95500"/>
            <a:ext cx="904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D16A5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D16A5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3A1435-B3F2-4E53-B2ED-C45DF0FD1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667000"/>
            <a:ext cx="195262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0292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02926"/>
                </a:solidFill>
                <a:latin typeface="Arial"/>
                <a:ea typeface="Arial"/>
                <a:cs typeface="Arial"/>
              </a:rPr>
              <a:t>Server token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B8A319-84DC-4874-AEFA-B279B6B89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810000"/>
            <a:ext cx="1952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16A5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C893A8-62C4-4978-BC25-96DF5C397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095500"/>
            <a:ext cx="904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D16A5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D16A54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3C36DB-6608-4039-A735-121174CAA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667000"/>
            <a:ext cx="195262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0292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02926"/>
                </a:solidFill>
                <a:latin typeface="Arial"/>
                <a:ea typeface="Arial"/>
                <a:cs typeface="Arial"/>
              </a:rPr>
              <a:t>Voice Agent API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D19253-DE6C-4E27-9C16-6AF24BFBE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810000"/>
            <a:ext cx="1952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16A5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1FB9E3-111C-40DD-85AC-FB11381D9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095500"/>
            <a:ext cx="904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D16A5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D16A54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443A7A-AAFD-4298-9BB3-52979DFA5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667000"/>
            <a:ext cx="195262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0292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02926"/>
                </a:solidFill>
                <a:latin typeface="Arial"/>
                <a:ea typeface="Arial"/>
                <a:cs typeface="Arial"/>
              </a:rPr>
              <a:t>Final transcript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F095AB-389D-48C6-9A5C-3F1D5C661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810000"/>
            <a:ext cx="1952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16A5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8B9ABD-465E-46B7-B469-2E69D7B88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095500"/>
            <a:ext cx="904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D16A5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D16A54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C0E4A5-51B6-4346-B17F-22246D45A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667000"/>
            <a:ext cx="195262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0292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02926"/>
                </a:solidFill>
                <a:latin typeface="Arial"/>
                <a:ea typeface="Arial"/>
                <a:cs typeface="Arial"/>
              </a:rPr>
              <a:t>Practice report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1C68F8F-66A3-465F-A625-A9685267A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95825"/>
            <a:ext cx="10572750" cy="1362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92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926"/>
                </a:solidFill>
                <a:latin typeface="Arial"/>
                <a:ea typeface="Arial"/>
                <a:cs typeface="Arial"/>
              </a:rPr>
              <a:t>Verified with synthetic speech: a server-issued token, AssemblyAI session start, user transcription, agent text and audio, and clean session end. Human microphone and interruption checks remain.</a:t>
            </a:r>
          </a:p>
        </p:txBody>
      </p:sp>
    </p:spTree>
    <p:extLst>
      <p:ext uri="{BB962C8B-B14F-4D97-AF65-F5344CB8AC3E}">
        <p14:creationId xmlns:p14="http://schemas.microsoft.com/office/powerpoint/2010/main" val="15509319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0A1492-1500-4E97-A3B6-848BDED68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763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02926"/>
                </a:solidFill>
                <a:latin typeface="Georgia"/>
                <a:ea typeface="Georgia"/>
                <a:cs typeface="Georgia"/>
              </a:defRPr>
            </a:pPr>
            <a:r>
              <a:rPr sz="4050" b="1">
                <a:solidFill>
                  <a:srgbClr val="102926"/>
                </a:solidFill>
                <a:latin typeface="Georgia"/>
                <a:ea typeface="Georgia"/>
                <a:cs typeface="Georgia"/>
              </a:rPr>
              <a:t>The learner’s next move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0C5BC1-37D6-4D2B-8E8E-1B01ED7C1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1076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92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F15994-7525-4A8B-90D9-0928C7309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71675"/>
            <a:ext cx="4048125" cy="1895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0292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02926"/>
                </a:solidFill>
                <a:latin typeface="Arial"/>
                <a:ea typeface="Arial"/>
                <a:cs typeface="Arial"/>
              </a:rPr>
              <a:t>Consumer self-practice before a code or payment request. The learner states a boundary, then names an independent contact route.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F6A7D1-B6AA-48D8-AC35-607E1A80D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62450"/>
            <a:ext cx="404812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3676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36763"/>
                </a:solidFill>
                <a:latin typeface="Arial"/>
                <a:ea typeface="Arial"/>
                <a:cs typeface="Arial"/>
              </a:rPr>
              <a:t>The report quotes this exercise’s words and offers one retry. Use in financial literacy training remains a hypothesis.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c54f47d8c14254"/>
          <a:stretch xmlns:a="http://schemas.openxmlformats.org/drawingml/2006/main"/>
        </p:blipFill>
        <p:spPr>
          <a:xfrm xmlns:a="http://schemas.openxmlformats.org/drawingml/2006/main">
            <a:off x="5105400" y="1724025"/>
            <a:ext cx="6267450" cy="44767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0221DF-0543-449C-8AB1-2729DB1D2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6248400"/>
            <a:ext cx="638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76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763"/>
                </a:solidFill>
                <a:latin typeface="Arial"/>
                <a:ea typeface="Arial"/>
                <a:cs typeface="Arial"/>
              </a:rPr>
              <a:t>Offline report shown. No fraud verdict or measured outcome.</a:t>
            </a:r>
          </a:p>
        </p:txBody>
      </p:sp>
    </p:spTree>
    <p:extLst>
      <p:ext uri="{BB962C8B-B14F-4D97-AF65-F5344CB8AC3E}">
        <p14:creationId xmlns:p14="http://schemas.microsoft.com/office/powerpoint/2010/main" val="124900945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029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6AF853-75B2-4BC9-8F88-7735EFE08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108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125" b="1">
                <a:solidFill>
                  <a:srgbClr val="FBF8F0"/>
                </a:solidFill>
                <a:latin typeface="Georgia"/>
                <a:ea typeface="Georgia"/>
                <a:cs typeface="Georgia"/>
              </a:defRPr>
            </a:pPr>
            <a:r>
              <a:rPr sz="4125" b="1">
                <a:solidFill>
                  <a:srgbClr val="FBF8F0"/>
                </a:solidFill>
                <a:latin typeface="Georgia"/>
                <a:ea typeface="Georgia"/>
                <a:cs typeface="Georgia"/>
              </a:rPr>
              <a:t>What the live demo must show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6189D0-5B6E-409A-8F5E-61BA52875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19225"/>
            <a:ext cx="1076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16A5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4FD1CB-93B4-4838-8DF8-62D97732E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71675"/>
            <a:ext cx="628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D16A5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D16A54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A0AF14-397F-46E1-9A21-CE896BEEE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1914525"/>
            <a:ext cx="990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FBF8F0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FBF8F0"/>
                </a:solidFill>
                <a:latin typeface="Arial"/>
                <a:ea typeface="Arial"/>
                <a:cs typeface="Arial"/>
              </a:rPr>
              <a:t>A fresh spoken phrase appears in the user transcript.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7B94D2-98B0-41DD-BA53-019885B2C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90825"/>
            <a:ext cx="628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D16A5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D16A5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4A45C6-22D8-4063-8A7A-3BDE892D9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2733675"/>
            <a:ext cx="990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FBF8F0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FBF8F0"/>
                </a:solidFill>
                <a:latin typeface="Arial"/>
                <a:ea typeface="Arial"/>
                <a:cs typeface="Arial"/>
              </a:rPr>
              <a:t>The agent replies audibly and yields when interrupted.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BEC5F5-CF41-4843-9389-7788C10D6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09975"/>
            <a:ext cx="628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D16A5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D16A54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3B0241-6464-4592-9EDE-946D493BB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3552825"/>
            <a:ext cx="990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FBF8F0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FBF8F0"/>
                </a:solidFill>
                <a:latin typeface="Arial"/>
                <a:ea typeface="Arial"/>
                <a:cs typeface="Arial"/>
              </a:rPr>
              <a:t>The review cites that session’s own words.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BE8B2F-147F-4E36-89F3-E0810482F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29125"/>
            <a:ext cx="628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D16A5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D16A54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34B798-D101-4521-BD8F-86EE6EC13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4371975"/>
            <a:ext cx="990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FBF8F0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FBF8F0"/>
                </a:solidFill>
                <a:latin typeface="Arial"/>
                <a:ea typeface="Arial"/>
                <a:cs typeface="Arial"/>
              </a:rPr>
              <a:t>The session ends cleanly.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9EF0FA-245B-494B-9A96-836BDE84B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91200"/>
            <a:ext cx="1076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16A5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383CDD-B69B-4638-B12E-AA8F39E53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53125"/>
            <a:ext cx="1076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FBF8F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BF8F0"/>
                </a:solidFill>
                <a:latin typeface="Arial"/>
                <a:ea typeface="Arial"/>
                <a:cs typeface="Arial"/>
              </a:rPr>
              <a:t>Real provider path verified with synthetic speech. Human microphone, spoken interruption, and the final video remain to check.</a:t>
            </a:r>
          </a:p>
        </p:txBody>
      </p:sp>
    </p:spTree>
    <p:extLst>
      <p:ext uri="{BB962C8B-B14F-4D97-AF65-F5344CB8AC3E}">
        <p14:creationId xmlns:p14="http://schemas.microsoft.com/office/powerpoint/2010/main" val="110399053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2026-09-30T08:27:58.5730000Z</dcterms:created>
  <dcterms:modified xsi:type="dcterms:W3CDTF">2026-09-30T08:27:58.5730000Z</dcterms:modified>
</coreProperties>
</file>