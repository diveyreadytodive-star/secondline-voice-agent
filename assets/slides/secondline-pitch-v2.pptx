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ffe5e22f94e27" /><Relationship Type="http://schemas.openxmlformats.org/officeDocument/2006/relationships/extended-properties" Target="/docProps/app.xml" Id="Rbe0eed27a3a142f6" /><Relationship Type="http://schemas.openxmlformats.org/officeDocument/2006/relationships/officeDocument" Target="/ppt/presentation.xml" Id="Ra13a253d25354b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c9197483241e9"/>
  </p:sldMasterIdLst>
  <p:notesMasterIdLst>
    <p:notesMasterId xmlns:r="http://schemas.openxmlformats.org/officeDocument/2006/relationships" r:id="R8cae06c1ea8940d8"/>
  </p:notesMasterIdLst>
  <p:sldIdLst>
    <p:sldId xmlns:r="http://schemas.openxmlformats.org/officeDocument/2006/relationships" id="256" r:id="R4c8ebb1a37464c9f"/>
    <p:sldId xmlns:r="http://schemas.openxmlformats.org/officeDocument/2006/relationships" id="257" r:id="Rd50da1daa31a49c2"/>
    <p:sldId xmlns:r="http://schemas.openxmlformats.org/officeDocument/2006/relationships" id="258" r:id="R32e0c5489b9f4f82"/>
    <p:sldId xmlns:r="http://schemas.openxmlformats.org/officeDocument/2006/relationships" id="259" r:id="R679b2687d2484c9a"/>
    <p:sldId xmlns:r="http://schemas.openxmlformats.org/officeDocument/2006/relationships" id="260" r:id="R45e079a6ae6a49ff"/>
    <p:sldId xmlns:r="http://schemas.openxmlformats.org/officeDocument/2006/relationships" id="261" r:id="R16e961555efc4a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067ea5cbd4d81" /><Relationship Type="http://schemas.openxmlformats.org/officeDocument/2006/relationships/slideMaster" Target="/ppt/slideMasters/slideMaster1.xml" Id="Re3dc9197483241e9" /><Relationship Type="http://schemas.openxmlformats.org/officeDocument/2006/relationships/notesMaster" Target="/ppt/notesMasters/notesMaster1.xml" Id="R8cae06c1ea8940d8" /><Relationship Type="http://schemas.openxmlformats.org/officeDocument/2006/relationships/presProps" Target="/ppt/presProps.xml" Id="R7eb7b7519d794067" /><Relationship Type="http://schemas.openxmlformats.org/officeDocument/2006/relationships/tableStyles" Target="/ppt/tableStyles.xml" Id="R1b7ea0b34c884638" /><Relationship Type="http://schemas.openxmlformats.org/officeDocument/2006/relationships/slide" Target="/ppt/slides/slide1.xml" Id="R4c8ebb1a37464c9f" /><Relationship Type="http://schemas.openxmlformats.org/officeDocument/2006/relationships/slide" Target="/ppt/slides/slide2.xml" Id="Rd50da1daa31a49c2" /><Relationship Type="http://schemas.openxmlformats.org/officeDocument/2006/relationships/slide" Target="/ppt/slides/slide3.xml" Id="R32e0c5489b9f4f82" /><Relationship Type="http://schemas.openxmlformats.org/officeDocument/2006/relationships/slide" Target="/ppt/slides/slide4.xml" Id="R679b2687d2484c9a" /><Relationship Type="http://schemas.openxmlformats.org/officeDocument/2006/relationships/slide" Target="/ppt/slides/slide5.xml" Id="R45e079a6ae6a49ff" /><Relationship Type="http://schemas.openxmlformats.org/officeDocument/2006/relationships/slide" Target="/ppt/slides/slide6.xml" Id="R16e961555efc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9bc94c05f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f003c1f244719" /><Relationship Type="http://schemas.openxmlformats.org/officeDocument/2006/relationships/notesMaster" Target="/ppt/notesMasters/notesMaster1.xml" Id="Rbf5add8d8ccc41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fc0b3a77fb4af2" /><Relationship Type="http://schemas.openxmlformats.org/officeDocument/2006/relationships/notesMaster" Target="/ppt/notesMasters/notesMaster1.xml" Id="R529f583298404b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ad3af160e4e8f" /><Relationship Type="http://schemas.openxmlformats.org/officeDocument/2006/relationships/notesMaster" Target="/ppt/notesMasters/notesMaster1.xml" Id="Re1a6c7979b4f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6cd4b06ba24b30" /><Relationship Type="http://schemas.openxmlformats.org/officeDocument/2006/relationships/notesMaster" Target="/ppt/notesMasters/notesMaster1.xml" Id="Rdae2310d026f4c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648a5e33114660" /><Relationship Type="http://schemas.openxmlformats.org/officeDocument/2006/relationships/notesMaster" Target="/ppt/notesMasters/notesMaster1.xml" Id="R304098f12b83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8c4712b2214a86" /><Relationship Type="http://schemas.openxmlformats.org/officeDocument/2006/relationships/notesMaster" Target="/ppt/notesMasters/notesMaster1.xml" Id="Rc1136fbd9e2448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generated editorial still life for this project; it depicts no real person, call, account, or transaction. Product title and copy are editable slide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pressure line is invented for the exercise. FTC consumer guidance supports hanging up, contacting the institution through an official app/site or trusted number, and keeping verification codes private: https://consumer.ftc.gov/consumer-alerts/2026/01/how-handle-unexpected-calls-claim-your-money-risk . No prevalence statistic, efficacy result, or measured financial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SecondLine build at 1280 by 720. The image shows a real browser UI but no AssemblyAI session. The live path is implemented in code and needs provider credentials for runtime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reference: https://www.assemblyai.com/docs/voice-agents/voice-agent-api/browser-integration . Session events: https://www.assemblyai.com/docs/voice-agents/voice-agent-api/websocket-events . This diagram describes implemented code; a real provider session was not verified without a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actual local offline walkthrough. Direct event overlap exists with Pretext, a voice social-engineering rehearsal entrant: https://lablab.ai/ai-hackathons/assemblyai-voice-agent-hackathon/waterloo-voice-lab/pretext-can-you-hold-the-line . SecondLine focuses on consumer self-practice before payment or code disclosure and independent-contact teach-back. FTC guidance for those actions: https://consumer.ftc.gov/consumer-alerts/2026/01/how-handle-unexpected-calls-claim-your-money-risk . No broad originality, comparative efficacy, or learning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record: local and public offline flow verified on 2026-09-30; no AssemblyAI key was available, so token mint, WebSocket session.ready, device audio, and interruption remain unverified. This slide must be updated if the entrant later obtains live runtime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b3ca08753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21bac300124051" /><Relationship Type="http://schemas.openxmlformats.org/officeDocument/2006/relationships/slideLayout" Target="/ppt/slideLayouts/slideLayout1.xml" Id="R112a86a8ac924b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a86a8ac924b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2458979754482" /><Relationship Type="http://schemas.openxmlformats.org/officeDocument/2006/relationships/image" Target="/ppt/media/image.png" Id="Rddfd15d9e4c04b00" /><Relationship Type="http://schemas.openxmlformats.org/officeDocument/2006/relationships/notesSlide" Target="/ppt/notesSlides/notesSlide1.xml" Id="R813b5740997e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c7f5da87e47ee" /><Relationship Type="http://schemas.openxmlformats.org/officeDocument/2006/relationships/notesSlide" Target="/ppt/notesSlides/notesSlide2.xml" Id="Rcc191a507cf742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240c00dd44aa" /><Relationship Type="http://schemas.openxmlformats.org/officeDocument/2006/relationships/image" Target="/ppt/media/image.jpeg" Id="R8e9d04e08e104229" /><Relationship Type="http://schemas.openxmlformats.org/officeDocument/2006/relationships/notesSlide" Target="/ppt/notesSlides/notesSlide3.xml" Id="R57da1bf5530f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f07e4bb934f8e" /><Relationship Type="http://schemas.openxmlformats.org/officeDocument/2006/relationships/notesSlide" Target="/ppt/notesSlides/notesSlide4.xml" Id="R30e8b67644354a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99e1fc96a4d7b" /><Relationship Type="http://schemas.openxmlformats.org/officeDocument/2006/relationships/image" Target="/ppt/media/image2.jpeg" Id="R97c586591be64601" /><Relationship Type="http://schemas.openxmlformats.org/officeDocument/2006/relationships/notesSlide" Target="/ppt/notesSlides/notesSlide5.xml" Id="Re7fc11ba470743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5fdbb3b574a40" /><Relationship Type="http://schemas.openxmlformats.org/officeDocument/2006/relationships/notesSlide" Target="/ppt/notesSlides/notesSlide6.xml" Id="R9f7c1ceec81a45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d15d9e4c04b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B93AD-2CFA-432D-8354-488F8E6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SECONDLINE / 001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571E2-0A26-4041-828D-7CE4A24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64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SecondLine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D66D8-68F3-48E0-9C35-A85AF11F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Rehearse the pause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17FE2-C8E1-41A0-96BA-603AD8E8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FICTIONAL VOICE PRACTICE</a:t>
            </a:r>
          </a:p>
        </p:txBody>
      </p:sp>
    </p:spTree>
    <p:extLst>
      <p:ext uri="{BB962C8B-B14F-4D97-AF65-F5344CB8AC3E}">
        <p14:creationId xmlns:p14="http://schemas.microsoft.com/office/powerpoint/2010/main" val="113490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8B601-5EB4-4497-8543-AB341DC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BF8F0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BF8F0"/>
                </a:solidFill>
                <a:latin typeface="Georgia"/>
                <a:ea typeface="Georgia"/>
                <a:cs typeface="Georgia"/>
              </a:rPr>
              <a:t>The pressured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4B7F5-59E8-4B67-B8EC-1235B563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D5E58D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D5E58D"/>
                </a:solidFill>
                <a:latin typeface="Georgia"/>
                <a:ea typeface="Georgia"/>
                <a:cs typeface="Georgia"/>
              </a:rPr>
              <a:t>“Send the code now.”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97508-098F-4A43-93F4-3EB13F8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A rushed request asks for action before the listener can check it. SecondLine lets the listener practice the words they will say to pause.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1645-4DFD-4535-99D0-48BB6217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071E2-B279-44BA-89D3-AF552917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Fictional examples only. No real calls or financial actions.</a:t>
            </a:r>
          </a:p>
        </p:txBody>
      </p:sp>
    </p:spTree>
    <p:extLst>
      <p:ext uri="{BB962C8B-B14F-4D97-AF65-F5344CB8AC3E}">
        <p14:creationId xmlns:p14="http://schemas.microsoft.com/office/powerpoint/2010/main" val="807098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0D82F-24FE-4390-B1FE-29C04B2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One short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1F5DD-B5D6-4ECE-8DA5-54F6A852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44E9D-C8ED-48A3-8212-C6622F9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650BC-C325-49F7-90D1-9154CA6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478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Hear one invented pressure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48F20-DB2E-4D9A-A417-A7461F2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05BA0-D2E9-4749-A5A8-9245D9DC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289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Say a boundary aloud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28B7E-CA67-4CFB-8151-CBBAD3F5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A6C4D-99D8-40FC-A254-F237B4A4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00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Explain your independent check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d04e08e104229"/>
          <a:stretch xmlns:a="http://schemas.openxmlformats.org/drawingml/2006/main"/>
        </p:blipFill>
        <p:spPr>
          <a:xfrm xmlns:a="http://schemas.openxmlformats.org/drawingml/2006/main">
            <a:off x="5127625" y="1743075"/>
            <a:ext cx="6299200" cy="3543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0B649-2D34-4B38-93B3-2E31E591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4830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Current browser build. Screenshot shows the offline state while live voice awaits a key.</a:t>
            </a:r>
          </a:p>
        </p:txBody>
      </p:sp>
    </p:spTree>
    <p:extLst>
      <p:ext uri="{BB962C8B-B14F-4D97-AF65-F5344CB8AC3E}">
        <p14:creationId xmlns:p14="http://schemas.microsoft.com/office/powerpoint/2010/main" val="638508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EDCFF-C0C6-44DA-8023-90F4299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The AssemblyAI voice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5842A-83B2-4C12-ACFC-C004A75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9926C-7CDB-4784-9FFE-6E34AEB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16F5A-513C-42FA-BC16-9A917DE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Browser mic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A722C-7D58-4A68-97B8-6718E06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46315-C884-4FF8-AE58-1C35E587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C0C20-F174-48FE-A98C-E2214300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Server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45BC-030B-4AC9-B363-65C431F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3F63-A556-4658-8BA1-2A10FBD3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AC64F-73B5-4148-BD41-039AD32D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Voice Agent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65FA6-4D47-4DFE-8FBE-A4AF919F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E1601-060A-4DFF-94FA-BDEB40D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1E34D-418C-40C3-9E77-808F742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Final transcript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0DCF9-13AA-43E2-9CAD-9D4A14E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2CEE4-A35A-4461-9418-CFC1AFB6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36C81-ED4E-462A-A86D-352463A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Practice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04276-EAB2-4345-AC09-5E8F24B8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572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926"/>
                </a:solidFill>
                <a:latin typeface="Arial"/>
                <a:ea typeface="Arial"/>
                <a:cs typeface="Arial"/>
              </a:rPr>
              <a:t>Implemented path: the server keeps the API key and issues a single-use token. Browser code streams audio and handles AssemblyAI transcript and reply events. A key-backed session still needs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3172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959E5-E75D-4C9E-8B3C-91C2295F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The learner’s next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2BFF3-B69A-4BB9-B24C-CF8EA506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83B01-CAB4-4D22-956C-DEAE118E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0481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926"/>
                </a:solidFill>
                <a:latin typeface="Arial"/>
                <a:ea typeface="Arial"/>
                <a:cs typeface="Arial"/>
              </a:rPr>
              <a:t>Consumer self-practice before a code or payment request. The learner states a boundary, then names an independent contact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47FCC-BB7D-44E8-93AA-427385CF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48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The report quotes this exercise’s words and offers one retry. Use in financial literacy training remains a hypothesis.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586591be64601"/>
          <a:stretch xmlns:a="http://schemas.openxmlformats.org/drawingml/2006/main"/>
        </p:blipFill>
        <p:spPr>
          <a:xfrm xmlns:a="http://schemas.openxmlformats.org/drawingml/2006/main">
            <a:off x="5105400" y="1724025"/>
            <a:ext cx="62674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E3881-5C63-42BB-8F09-936572E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484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Offline report shown. No fraud verdict or measured outcome.</a:t>
            </a:r>
          </a:p>
        </p:txBody>
      </p:sp>
    </p:spTree>
    <p:extLst>
      <p:ext uri="{BB962C8B-B14F-4D97-AF65-F5344CB8AC3E}">
        <p14:creationId xmlns:p14="http://schemas.microsoft.com/office/powerpoint/2010/main" val="724606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0E186-72ED-4D2E-A3BD-5284E9E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BF8F0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FBF8F0"/>
                </a:solidFill>
                <a:latin typeface="Georgia"/>
                <a:ea typeface="Georgia"/>
                <a:cs typeface="Georgia"/>
              </a:rPr>
              <a:t>What the live demo must show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327D0-2F14-453F-BAC9-4407244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B5999-1AC0-4003-A5C6-5619828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93373-2809-431C-9719-5116A69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145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A fresh spoken phrase appears in the user transcript.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9485F-BA03-4CED-A0BA-3A71820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A54AC-85F8-4616-919E-D0C5A24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336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agent replies audibly and yields when interrupted.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6E3EE-26FF-414E-BC1E-C0895DD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A2C81-83E3-4747-9971-28A8E59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528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review cites that session’s own words.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DB017-617B-41C5-8940-30F3449B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9EDFC-2F38-4A70-AA09-3027DC1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719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session ends cleanly.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6DB5D-13E1-43D9-95D7-9B03366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EFFF-8DD4-4DA6-8F13-24D4029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Current proof: local and hosted offline flow. Live provider verification requires an AssemblyAI key.</a:t>
            </a:r>
          </a:p>
        </p:txBody>
      </p:sp>
    </p:spTree>
    <p:extLst>
      <p:ext uri="{BB962C8B-B14F-4D97-AF65-F5344CB8AC3E}">
        <p14:creationId xmlns:p14="http://schemas.microsoft.com/office/powerpoint/2010/main" val="1175049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2026-09-30T07:05:12.6730000Z</dcterms:created>
  <dcterms:modified xsi:type="dcterms:W3CDTF">2026-09-30T07:05:12.6730000Z</dcterms:modified>
</coreProperties>
</file>